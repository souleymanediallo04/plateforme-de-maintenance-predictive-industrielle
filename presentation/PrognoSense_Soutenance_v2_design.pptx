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66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Bonjour. Je vous présente PrognoSense, une plateforme de maintenance prédictive industrielle complète. En 10 minutes, je vais vous montrer ce qu'elle SAIT FAIRE — fonctionnalité par fonctionnalité — de la surveillance jusqu'à l'intervention, le technicien et la pièce.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PrognoSense suit l'ordre logique d'un fiabiliste : surveiller, diagnostiquer, anticiper, agir, mesurer. Concrètement, c'est une application de 8 modules que je vais parcourir. L'idée à retenir : ce n'est pas un détecteur de plus, c'est la chaîne complète, du signal jusqu'à la décision d'intervention.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D'abord, d'où viennent les données : la plateforme se branche au parc existant via OPC-UA et MQTT — pas besoin de changer les capteurs. On peut même diagnostiquer à partir d'un simple spectre collé. La surveillance est temps réel, et surtout la sévérité est exprimée en zones ISO 10816 — votre langage. Et le défaut est nommé précisément, pas en termes vagues.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cerveau, expliqué simplement. Il a appris sur 5 jeux de données réels couvrant vos défauts : roulements, engrenages, balourd, désalignement, turbomachine. Trois choses à retenir : il détecte même un défaut jamais vu ; il EXPLIQUE pourquoi il décide ; et il s'améliore — on lui apprend un nouveau défaut, et on revient en arrière en un clic si besoin. Résultats honnêtes : jusqu'à 97 %, sans fuite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C'est le cœur opérationnel et l'innovation majeure. Une panne prédite déclenche un ordre de travail automatique, poussable dans votre GMAO. On affecte LE BON technicien — selon compétence ET certification ISO 18436. On vérifie si LA PIÈCE est au magasin ou à commander. Le technicien est notifié, intervient, rédige son compte-rendu, l'admin clôture. De la détection jusqu'à l'homme et la pièce, la boucle est fermée et tracée.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Une fois qu'on intervient, il faut PILOTER et PROUVER. MTBF, MTTR, disponibilité, ROI sont mesurés sur les vraies interventions — un MTBF se constate, il ne s'invente pas. À côté, des fonctionnalités qui font gagner du temps : un assistant qui répond en citant les normes, l'export PDF, les e-mails, le journal d'audit pour la conformité, le taux de fausses alarmes validé, et une configuration par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Pour finir : PrognoSense est une intégration verticale complète, du capteur à l'ordre de travail — normalisée ISO, ouverte, expliquée et tracée. Là où les suites du marché sont fermées et coûteuses, la nôtre est ouverte et défendable. En une phrase : elle dit quoi tombe en panne, pourquoi, quelle pièce, et qui doit intervenir. Merci, je suis prêt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A2B2"/>
                </a:solidFill>
                <a:latin typeface="Calibri"/>
              </a:rPr>
              <a:t>ÉCOLE NATIONALE SUPÉRIEURE D'ARTS ET MÉTIERS — MEKNÈS   · 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EF4F8"/>
                </a:solidFill>
                <a:latin typeface="Calibri"/>
              </a:rPr>
              <a:t>PrognoSense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310128"/>
            <a:ext cx="2011680" cy="54864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539293"/>
            <a:ext cx="1088136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E0"/>
                </a:solidFill>
                <a:latin typeface="Calibri"/>
              </a:rPr>
              <a:t>Plateforme de Maintenance Prédictive Industrielle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8CA2B2"/>
                </a:solidFill>
                <a:latin typeface="Calibri"/>
              </a:rPr>
              <a:t>Surveiller · Diagnostiquer · Anticiper · Intervenir — du capteur à l'ordre de travail.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880006" cy="420624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880006" cy="42062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E0"/>
                </a:solidFill>
                <a:latin typeface="Calibri"/>
              </a:rPr>
              <a:t>Analyse vibratoire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2966" y="4892040"/>
            <a:ext cx="1459382" cy="420624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02966" y="4892040"/>
            <a:ext cx="1459382" cy="42062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E0"/>
                </a:solidFill>
                <a:latin typeface="Calibri"/>
              </a:rPr>
              <a:t>IA explicable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5228" y="4892040"/>
            <a:ext cx="1795881" cy="420624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5228" y="4892040"/>
            <a:ext cx="1795881" cy="42062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E0"/>
                </a:solidFill>
                <a:latin typeface="Calibri"/>
              </a:rPr>
              <a:t>ISO 10816 / 18436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990" y="4892040"/>
            <a:ext cx="1291132" cy="420624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3990" y="4892040"/>
            <a:ext cx="1291132" cy="42062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E0"/>
                </a:solidFill>
                <a:latin typeface="Calibri"/>
              </a:rPr>
              <a:t>Boucle GMAO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43600"/>
            <a:ext cx="10908792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A2B2"/>
                </a:solidFill>
                <a:latin typeface="Calibri"/>
              </a:rPr>
              <a:t>Réalisé par  </a:t>
            </a:r>
            <a:r>
              <a:rPr sz="1400" b="1" i="0">
                <a:solidFill>
                  <a:srgbClr val="EEF4F8"/>
                </a:solidFill>
                <a:latin typeface="Calibri"/>
              </a:rPr>
              <a:t>Souleymane DIALLO</a:t>
            </a:r>
            <a:r>
              <a:rPr sz="1300" b="0" i="0">
                <a:solidFill>
                  <a:srgbClr val="8CA2B2"/>
                </a:solidFill>
                <a:latin typeface="Calibri"/>
              </a:rPr>
              <a:t>          Encadré par  </a:t>
            </a:r>
            <a:r>
              <a:rPr sz="1400" b="1" i="0">
                <a:solidFill>
                  <a:srgbClr val="EEF4F8"/>
                </a:solidFill>
                <a:latin typeface="Calibri"/>
              </a:rPr>
              <a:t>Pr. Zaki SMAIL</a:t>
            </a: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188" y="217628"/>
            <a:ext cx="3762332" cy="1294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01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LA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Une seule plateforme, du capteur à la décision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993392" cy="9144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1993392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SURVEILLER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00C9E0"/>
                </a:solidFill>
                <a:latin typeface="Calibri"/>
              </a:rPr>
              <a:t>état flotte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6896" y="2039112"/>
            <a:ext cx="310896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0AA32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783080"/>
            <a:ext cx="1993392" cy="9144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929384"/>
            <a:ext cx="1993392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DIAGNOSTIQUER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00C9E0"/>
                </a:solidFill>
                <a:latin typeface="Calibri"/>
              </a:rPr>
              <a:t>organe défaillant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2039112"/>
            <a:ext cx="310896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0AA32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83080"/>
            <a:ext cx="1993392" cy="9144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929384"/>
            <a:ext cx="1993392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ANTICIPER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00C9E0"/>
                </a:solidFill>
                <a:latin typeface="Calibri"/>
              </a:rPr>
              <a:t>durée de 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2039112"/>
            <a:ext cx="310896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0AA32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83080"/>
            <a:ext cx="1993392" cy="9144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F0A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929384"/>
            <a:ext cx="1993392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AGIR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0AA32"/>
                </a:solidFill>
                <a:latin typeface="Calibri"/>
              </a:rPr>
              <a:t>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039112"/>
            <a:ext cx="310896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0AA32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783080"/>
            <a:ext cx="1993392" cy="9144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F0A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929384"/>
            <a:ext cx="1993392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MESURER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0AA32"/>
                </a:solidFill>
                <a:latin typeface="Calibri"/>
              </a:rPr>
              <a:t>fiabilité ·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AA32"/>
                </a:solidFill>
                <a:latin typeface="Calibri"/>
              </a:rPr>
              <a:t>8 ESPACES DE TRAVAIL DÉDIÉS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45643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🗂️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45643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Vue Globale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345643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45643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1376" y="345643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345643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345643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345643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Pronostic RUL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345643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89136" y="345643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45643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IA Lab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6227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" y="446227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🛠️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446227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Maintenance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46227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446227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1376" y="446227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Interventions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446227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446227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🛡️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446227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Audit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24544" y="4462272"/>
            <a:ext cx="2596896" cy="84124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89136" y="4462272"/>
            <a:ext cx="640080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C9E0"/>
                </a:solidFill>
                <a:latin typeface="Segoe UI Emoji"/>
              </a:rPr>
              <a:t>⚙️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4352" y="4462272"/>
            <a:ext cx="1773936" cy="84124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Configuration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8CA2B2"/>
                </a:solidFill>
                <a:latin typeface="Calibri"/>
              </a:rPr>
              <a:t>Toute la surveillance conditionnelle (CBM / ISO 13374) dans un seul outil — pas un modèle isolé, un système industriel complet.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02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SURVEILLANCE &amp;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Capter le signal, voir le défaut, le nommer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02536"/>
            <a:ext cx="64008" cy="1527048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7" y="20574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0391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Raccordable au parc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60903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Connecteurs OPC-UA &amp; MQTT + ingestion universelle : tout capteur ou automate alimente la plateforme.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784" y="1874519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7784" y="2002536"/>
            <a:ext cx="64008" cy="1527048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8952" y="20574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0472" y="20391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Diagnostic par spectre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240" y="2660903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On colle/importe un spectre FFT (CSV/JSON) → le type de défaut est identifié automatiquement.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874519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5488" y="2002536"/>
            <a:ext cx="64008" cy="1527048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96656" y="20574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8176" y="20391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Surveillance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4944" y="2660903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Indice de santé, forme d'onde, spectre, indicateurs (RMS, kurtosis, facteur de crête).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13631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041647"/>
            <a:ext cx="64008" cy="1527048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7" y="4096511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Analyse spectrale experte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700016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Fréquences de roulement BPFO/BPFI/BSF/FTF + analyse d'enveloppe pour confirmer.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7784" y="3913631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7784" y="4041647"/>
            <a:ext cx="64008" cy="1527048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68952" y="4096511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0472" y="40782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Sévérité ISO 10816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7240" y="4700016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Vitesse vibratoire en mm/s, zones A/B/C/D — un diagnostic normalisé, défendable.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5488" y="3913631"/>
            <a:ext cx="3453384" cy="178308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95488" y="4041647"/>
            <a:ext cx="64008" cy="1527048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96656" y="4096511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8176" y="40782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Organe défaillant nommé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944" y="4700016"/>
            <a:ext cx="3041904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A2B2"/>
                </a:solidFill>
                <a:latin typeface="Calibri"/>
              </a:rPr>
              <a:t>« roulement bague interne », « désalignement d'accouplement »… — jamais un libellé vague.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03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INTELLIGENCE EMBARQUÉE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Diagnostiquer, anticiper, expliquer — et s'améliorer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74920" cy="370332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461772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LE MOTEUR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45720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Appris sur 5 jeux de données réels — 66 000+ 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16352"/>
            <a:ext cx="537667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816352"/>
            <a:ext cx="537667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E0"/>
                </a:solidFill>
                <a:latin typeface="Calibri"/>
              </a:rPr>
              <a:t>CWRU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1795" y="2816352"/>
            <a:ext cx="837590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61795" y="2816352"/>
            <a:ext cx="83759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E0"/>
                </a:solidFill>
                <a:latin typeface="Calibri"/>
              </a:rPr>
              <a:t>MCC5-THU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7401" y="2816352"/>
            <a:ext cx="1512417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27401" y="2816352"/>
            <a:ext cx="1512417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E0"/>
                </a:solidFill>
                <a:latin typeface="Calibri"/>
              </a:rPr>
              <a:t>Mechanical Faults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7835" y="2816352"/>
            <a:ext cx="462686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7835" y="2816352"/>
            <a:ext cx="462686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E0"/>
                </a:solidFill>
                <a:latin typeface="Calibri"/>
              </a:rPr>
              <a:t>VBL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8537" y="2816352"/>
            <a:ext cx="687628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8537" y="2816352"/>
            <a:ext cx="68762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E0"/>
                </a:solidFill>
                <a:latin typeface="Calibri"/>
              </a:rPr>
              <a:t>CMAPSS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255264"/>
            <a:ext cx="45720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A2B2"/>
                </a:solidFill>
                <a:latin typeface="Calibri"/>
              </a:rPr>
              <a:t>Modèles comparés, le meilleur retenu par cas 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3602736"/>
            <a:ext cx="762609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602736"/>
            <a:ext cx="762609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C88C"/>
                </a:solidFill>
                <a:latin typeface="Calibri"/>
              </a:rPr>
              <a:t>XGBoost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6737" y="3602736"/>
            <a:ext cx="1212494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6737" y="3602736"/>
            <a:ext cx="1212494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C88C"/>
                </a:solidFill>
                <a:latin typeface="Calibri"/>
              </a:rPr>
              <a:t>Random Forest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7248" y="3602736"/>
            <a:ext cx="462686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27248" y="3602736"/>
            <a:ext cx="462686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C88C"/>
                </a:solidFill>
                <a:latin typeface="Calibri"/>
              </a:rPr>
              <a:t>MLP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7950" y="3602736"/>
            <a:ext cx="462686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7950" y="3602736"/>
            <a:ext cx="462686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C88C"/>
                </a:solidFill>
                <a:latin typeface="Calibri"/>
              </a:rPr>
              <a:t>CNN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8652" y="3602736"/>
            <a:ext cx="612648" cy="329184"/>
          </a:xfrm>
          <a:prstGeom prst="roundRect">
            <a:avLst/>
          </a:prstGeom>
          <a:solidFill>
            <a:srgbClr val="1B2E3E"/>
          </a:solidFill>
          <a:ln w="6350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08652" y="3602736"/>
            <a:ext cx="61264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C88C"/>
                </a:solidFill>
                <a:latin typeface="Calibri"/>
              </a:rPr>
              <a:t>Huber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096511"/>
            <a:ext cx="457200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Produit : </a:t>
            </a:r>
            <a:r>
              <a:rPr sz="1250" b="0" i="0">
                <a:solidFill>
                  <a:srgbClr val="EEF4F8"/>
                </a:solidFill>
                <a:latin typeface="Calibri"/>
              </a:rPr>
              <a:t>type de défaut + sévérité + durée de vie restante (RUL).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1828800"/>
            <a:ext cx="5559552" cy="1078992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1956816"/>
            <a:ext cx="64008" cy="822959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90488" y="201168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1993392"/>
            <a:ext cx="4462272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Détecter un défaut JAMAIS vu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615184"/>
            <a:ext cx="5148072" cy="164591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Apprend le « comportement sain » de chaque machine et signale toute déviation, même inconnue.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20" y="3054096"/>
            <a:ext cx="5559552" cy="1078992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89320" y="3182112"/>
            <a:ext cx="64008" cy="822959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90488" y="3236976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3218688"/>
            <a:ext cx="4462272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Expliquer ses décisions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3840480"/>
            <a:ext cx="5148072" cy="164591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Montre quels indicateurs ont pesé (énergie BPFO, kurtosis…) — pas une boîte noire.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4279392"/>
            <a:ext cx="5559552" cy="1078992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89320" y="4407407"/>
            <a:ext cx="64008" cy="822959"/>
          </a:xfrm>
          <a:prstGeom prst="rect">
            <a:avLst/>
          </a:prstGeom>
          <a:solidFill>
            <a:srgbClr val="2DC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190488" y="4462272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DC88C"/>
                </a:solidFill>
                <a:latin typeface="Segoe UI Emoji"/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008" y="4443983"/>
            <a:ext cx="4462272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EF4F8"/>
                </a:solidFill>
                <a:latin typeface="Calibri"/>
              </a:rPr>
              <a:t>S'améliorer dans le temps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5065776"/>
            <a:ext cx="5148072" cy="164591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Réentraînement pour un nouveau défaut · retour arrière (rollback) en un clic · alerte de dérive.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760720"/>
            <a:ext cx="10908792" cy="566928"/>
          </a:xfrm>
          <a:prstGeom prst="roundRect">
            <a:avLst/>
          </a:prstGeom>
          <a:solidFill>
            <a:srgbClr val="1B2E3E"/>
          </a:solidFill>
          <a:ln w="1270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760720"/>
            <a:ext cx="10424160" cy="56692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DC88C"/>
                </a:solidFill>
                <a:latin typeface="Segoe UI Emoji"/>
              </a:rPr>
              <a:t>✓  Fiabilité  </a:t>
            </a:r>
            <a:r>
              <a:rPr sz="1300" b="0" i="0">
                <a:solidFill>
                  <a:srgbClr val="EEF4F8"/>
                </a:solidFill>
                <a:latin typeface="Calibri"/>
              </a:rPr>
              <a:t>jusqu'à 97 % de défauts correctement identifiés — validé sans tricher (aucune fuite de données entre apprentissage et test).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04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DE L'ALERTE À L'INTERVENTION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La boucle fermée : la bonne personne, la bonne pièce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828800" cy="1143000"/>
          </a:xfrm>
          <a:prstGeom prst="roundRect">
            <a:avLst/>
          </a:prstGeom>
          <a:solidFill>
            <a:srgbClr val="162634"/>
          </a:solidFill>
          <a:ln w="13970">
            <a:solidFill>
              <a:srgbClr val="EB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182880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B5F5F"/>
                </a:solidFill>
                <a:latin typeface="Segoe UI Emoj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86584"/>
            <a:ext cx="18288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Alerte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2167128"/>
            <a:ext cx="36576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AA3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3" y="1783080"/>
            <a:ext cx="1828800" cy="1143000"/>
          </a:xfrm>
          <a:prstGeom prst="roundRect">
            <a:avLst/>
          </a:prstGeom>
          <a:solidFill>
            <a:srgbClr val="162634"/>
          </a:solidFill>
          <a:ln w="13970">
            <a:solidFill>
              <a:srgbClr val="F0A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8063" y="1929384"/>
            <a:ext cx="182880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0AA32"/>
                </a:solidFill>
                <a:latin typeface="Segoe UI Emoj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3" y="2386584"/>
            <a:ext cx="18288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Ordre 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travail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67128"/>
            <a:ext cx="36576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AA3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783080"/>
            <a:ext cx="1828800" cy="1143000"/>
          </a:xfrm>
          <a:prstGeom prst="roundRect">
            <a:avLst/>
          </a:prstGeom>
          <a:solidFill>
            <a:srgbClr val="162634"/>
          </a:solidFill>
          <a:ln w="1397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1929384"/>
            <a:ext cx="182880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C9E0"/>
                </a:solidFill>
                <a:latin typeface="Segoe UI Emoji"/>
              </a:rPr>
              <a:t>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386584"/>
            <a:ext cx="18288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Technicien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qualifié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67128"/>
            <a:ext cx="36576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AA32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4031" y="1783080"/>
            <a:ext cx="1828800" cy="1143000"/>
          </a:xfrm>
          <a:prstGeom prst="roundRect">
            <a:avLst/>
          </a:prstGeom>
          <a:solidFill>
            <a:srgbClr val="162634"/>
          </a:solidFill>
          <a:ln w="1397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14031" y="1929384"/>
            <a:ext cx="182880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C9E0"/>
                </a:solidFill>
                <a:latin typeface="Segoe UI Emoji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386584"/>
            <a:ext cx="18288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Pièce 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167128"/>
            <a:ext cx="36576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AA32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015" y="1783080"/>
            <a:ext cx="1828800" cy="1143000"/>
          </a:xfrm>
          <a:prstGeom prst="roundRect">
            <a:avLst/>
          </a:prstGeom>
          <a:solidFill>
            <a:srgbClr val="162634"/>
          </a:solidFill>
          <a:ln w="13970">
            <a:solidFill>
              <a:srgbClr val="2DC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5" y="1929384"/>
            <a:ext cx="182880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DC88C"/>
                </a:solidFill>
                <a:latin typeface="Segoe UI Emoj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5" y="2386584"/>
            <a:ext cx="18288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Clôture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4F8"/>
                </a:solidFill>
                <a:latin typeface="Calibri"/>
              </a:rPr>
              <a:t>vérifiée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00400"/>
            <a:ext cx="3453384" cy="16916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328416"/>
            <a:ext cx="64008" cy="1435608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1247" y="338328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36499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Affectation par compétence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986784"/>
            <a:ext cx="3041904" cy="7772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Compétence + certification ISO 18436 : le senior pour un cas grave. L'admin choisit, le système classe les qualifiés.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7784" y="3200400"/>
            <a:ext cx="3453384" cy="16916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67784" y="3328416"/>
            <a:ext cx="64008" cy="1435608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68952" y="338328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0472" y="336499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Vérification au magasin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240" y="3986784"/>
            <a:ext cx="3041904" cy="7772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La pièce requise est-elle en stock (quantité + emplacement) ou à commander ? Décrément automatique à la clôture.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5488" y="3200400"/>
            <a:ext cx="3453384" cy="16916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95488" y="3328416"/>
            <a:ext cx="64008" cy="1435608"/>
          </a:xfrm>
          <a:prstGeom prst="rect">
            <a:avLst/>
          </a:prstGeom>
          <a:solidFill>
            <a:srgbClr val="2DC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96656" y="338328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DC88C"/>
                </a:solidFill>
                <a:latin typeface="Segoe UI Emoji"/>
              </a:rPr>
              <a:t>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8176" y="336499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EF4F8"/>
                </a:solidFill>
                <a:latin typeface="Calibri"/>
              </a:rPr>
              <a:t>Suivi &amp; compte-rendu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4944" y="3986784"/>
            <a:ext cx="3041904" cy="7772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Technicien notifié par e-mail, mission détaillée, compte-rendu, vérification admin — qui alimente seul les KPIs.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05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PILOTAGE &amp; CONFIANCE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Prouver la fiabilité, assister, tracer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35174" cy="105156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11095"/>
            <a:ext cx="2535174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C9E0"/>
                </a:solidFill>
                <a:latin typeface="Calibri"/>
              </a:rPr>
              <a:t>MTBF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9151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A2B2"/>
                </a:solidFill>
                <a:latin typeface="Calibri"/>
              </a:rPr>
              <a:t>temps entre pannes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1286" y="1783080"/>
            <a:ext cx="2535174" cy="105156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31286" y="1911095"/>
            <a:ext cx="2535174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C9E0"/>
                </a:solidFill>
                <a:latin typeface="Calibri"/>
              </a:rPr>
              <a:t>MTTR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1286" y="2359151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A2B2"/>
                </a:solidFill>
                <a:latin typeface="Calibri"/>
              </a:rPr>
              <a:t>temps 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492" y="1783080"/>
            <a:ext cx="2535174" cy="105156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2492" y="1911095"/>
            <a:ext cx="2535174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DC88C"/>
                </a:solidFill>
                <a:latin typeface="Calibri"/>
              </a:rPr>
              <a:t>DISPO.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492" y="2359151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A2B2"/>
                </a:solidFill>
                <a:latin typeface="Calibri"/>
              </a:rPr>
              <a:t>disponibilité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3698" y="1783080"/>
            <a:ext cx="2535174" cy="105156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13698" y="1911095"/>
            <a:ext cx="2535174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0AA32"/>
                </a:solidFill>
                <a:latin typeface="Calibri"/>
              </a:rPr>
              <a:t>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3698" y="2359151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A2B2"/>
                </a:solidFill>
                <a:latin typeface="Calibri"/>
              </a:rPr>
              <a:t>arrêts &amp; coûts évités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07792"/>
            <a:ext cx="1088136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A2B2"/>
                </a:solidFill>
                <a:latin typeface="Calibri"/>
              </a:rPr>
              <a:t>KPIS MESURÉS SUR LES INTERVENTIONS RÉELLES — PAS DES CHIFFRES INVENTÉS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374136"/>
            <a:ext cx="64008" cy="950976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34290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4107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Assistant conversationnel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032504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Le technicien pose une question en langage naturel ; réponse avec les sources normatives à l'appui.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7784" y="3246120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7784" y="3374136"/>
            <a:ext cx="64008" cy="950976"/>
          </a:xfrm>
          <a:prstGeom prst="rect">
            <a:avLst/>
          </a:prstGeom>
          <a:solidFill>
            <a:srgbClr val="00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68952" y="34290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C9E0"/>
                </a:solidFill>
                <a:latin typeface="Segoe UI Emoji"/>
              </a:rP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0472" y="34107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Rapports &amp; alertes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240" y="4032504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Génération de rapport PDF en un clic + notifications e-mail automatiques sur événement critique.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5488" y="3246120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5488" y="3374136"/>
            <a:ext cx="64008" cy="950976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96656" y="3429000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8176" y="3410712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Journal d'audit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4944" y="4032504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Chaque décision et alerte horodatée → conformité &amp; traçabilité. Rien n'est une boîte noire.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599431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4727447"/>
            <a:ext cx="64008" cy="950976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1247" y="4782312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0AA32"/>
                </a:solidFill>
                <a:latin typeface="Segoe UI Emoji"/>
              </a:rPr>
              <a:t>🎚️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47640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Taux de fausses alarmes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385816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Validé par l'expert (vrai/faux positif) — le critère de confiance n°1 d'un acheteur PdM.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67784" y="4599431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67784" y="4727447"/>
            <a:ext cx="64008" cy="950976"/>
          </a:xfrm>
          <a:prstGeom prst="rect">
            <a:avLst/>
          </a:prstGeom>
          <a:solidFill>
            <a:srgbClr val="2DC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68952" y="4782312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DC88C"/>
                </a:solidFill>
                <a:latin typeface="Segoe UI Emoji"/>
              </a:rPr>
              <a:t>⚙️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0472" y="47640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Configuration par 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87240" y="5385816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Seuils d'alarme, paramètres de roulement, préférences : la plateforme s'adapte à chaque usine.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5488" y="4599431"/>
            <a:ext cx="3453384" cy="1207008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95488" y="4727447"/>
            <a:ext cx="64008" cy="950976"/>
          </a:xfrm>
          <a:prstGeom prst="rect">
            <a:avLst/>
          </a:prstGeom>
          <a:solidFill>
            <a:srgbClr val="2DC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296656" y="4782312"/>
            <a:ext cx="566928" cy="566928"/>
          </a:xfrm>
          <a:prstGeom prst="roundRect">
            <a:avLst/>
          </a:prstGeom>
          <a:solidFill>
            <a:srgbClr val="1B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DC88C"/>
                </a:solidFill>
                <a:latin typeface="Segoe UI Emoji"/>
              </a:rPr>
              <a:t>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8176" y="4764023"/>
            <a:ext cx="2356104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4F8"/>
                </a:solidFill>
                <a:latin typeface="Calibri"/>
              </a:rPr>
              <a:t>Efficacité prédictive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4944" y="5385816"/>
            <a:ext cx="3041904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A2B2"/>
                </a:solidFill>
                <a:latin typeface="Calibri"/>
              </a:rPr>
              <a:t>Précision, rappel, délai d'anticipation (lead-time) entre alertes et pannes réelles.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12064"/>
            <a:ext cx="310896" cy="77724"/>
          </a:xfrm>
          <a:prstGeom prst="rect">
            <a:avLst/>
          </a:prstGeom>
          <a:solidFill>
            <a:srgbClr val="F0A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" y="384048"/>
            <a:ext cx="100584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AA32"/>
                </a:solidFill>
                <a:latin typeface="Calibri"/>
              </a:rPr>
              <a:t>06</a:t>
            </a:r>
            <a:r>
              <a:rPr sz="1250" b="1" i="0">
                <a:solidFill>
                  <a:srgbClr val="00C9E0"/>
                </a:solidFill>
                <a:latin typeface="Calibri"/>
              </a:rPr>
              <a:t> 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EF4F8"/>
                </a:solidFill>
                <a:latin typeface="Calibri"/>
              </a:rPr>
              <a:t>Une intégration verticale complète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35174" cy="12344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75104"/>
            <a:ext cx="2535174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C9E0"/>
                </a:solidFill>
                <a:latin typeface="Segoe UI Emoj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4F8"/>
                </a:solidFill>
                <a:latin typeface="Calibri"/>
              </a:rPr>
              <a:t>Normalisé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535174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ISO 10816 / 18436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1286" y="1828800"/>
            <a:ext cx="2535174" cy="12344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31286" y="1975104"/>
            <a:ext cx="2535174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C9E0"/>
                </a:solidFill>
                <a:latin typeface="Segoe UI Emoji"/>
              </a:rPr>
              <a:t>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286" y="2432304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4F8"/>
                </a:solidFill>
                <a:latin typeface="Calibri"/>
              </a:rPr>
              <a:t>Ouvert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1286" y="2743200"/>
            <a:ext cx="2535174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OPC-UA · MQTT · GMAO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828800"/>
            <a:ext cx="2535174" cy="12344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2492" y="1975104"/>
            <a:ext cx="2535174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F0AA32"/>
                </a:solidFill>
                <a:latin typeface="Segoe UI Emoji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2492" y="2432304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4F8"/>
                </a:solidFill>
                <a:latin typeface="Calibri"/>
              </a:rPr>
              <a:t>Expliqué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2492" y="2743200"/>
            <a:ext cx="2535174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pas de boîte noire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3698" y="1828800"/>
            <a:ext cx="2535174" cy="1234440"/>
          </a:xfrm>
          <a:prstGeom prst="roundRect">
            <a:avLst/>
          </a:prstGeom>
          <a:solidFill>
            <a:srgbClr val="162634"/>
          </a:solidFill>
          <a:ln w="9525">
            <a:solidFill>
              <a:srgbClr val="2A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13698" y="1975104"/>
            <a:ext cx="2535174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DC88C"/>
                </a:solidFill>
                <a:latin typeface="Segoe UI Emoj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3698" y="2432304"/>
            <a:ext cx="2535174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EF4F8"/>
                </a:solidFill>
                <a:latin typeface="Calibri"/>
              </a:rPr>
              <a:t>Tracé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698" y="2743200"/>
            <a:ext cx="2535174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A2B2"/>
                </a:solidFill>
                <a:latin typeface="Calibri"/>
              </a:rPr>
              <a:t>audit &amp; conformité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881360" cy="10972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0AA32"/>
                </a:solidFill>
                <a:latin typeface="Calibri"/>
              </a:rPr>
              <a:t>PERSPECTIVES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00C9E0"/>
                </a:solidFill>
                <a:latin typeface="Calibri"/>
              </a:rPr>
              <a:t>▸  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Validation sur banc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d'essai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 et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données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 de terrain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réelles</a:t>
            </a:r>
            <a:endParaRPr sz="1300" b="0" i="0" dirty="0">
              <a:solidFill>
                <a:srgbClr val="8CA2B2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 i="0" dirty="0">
                <a:solidFill>
                  <a:srgbClr val="00C9E0"/>
                </a:solidFill>
                <a:latin typeface="Calibri"/>
              </a:rPr>
              <a:t>▸ 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Déploiement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 multi-sites (base time-series) ·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connecteurs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 GMAO </a:t>
            </a:r>
            <a:r>
              <a:rPr sz="1300" b="0" i="0" dirty="0" err="1">
                <a:solidFill>
                  <a:srgbClr val="8CA2B2"/>
                </a:solidFill>
                <a:latin typeface="Calibri"/>
              </a:rPr>
              <a:t>natifs</a:t>
            </a:r>
            <a:r>
              <a:rPr sz="1300" b="0" i="0" dirty="0">
                <a:solidFill>
                  <a:srgbClr val="8CA2B2"/>
                </a:solidFill>
                <a:latin typeface="Calibri"/>
              </a:rPr>
              <a:t> · application mobile terrain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10908792" cy="1143000"/>
          </a:xfrm>
          <a:prstGeom prst="roundRect">
            <a:avLst/>
          </a:prstGeom>
          <a:solidFill>
            <a:srgbClr val="162634"/>
          </a:solidFill>
          <a:ln w="15240">
            <a:solidFill>
              <a:srgbClr val="00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864608"/>
            <a:ext cx="10149840" cy="96012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 dirty="0" err="1">
                <a:solidFill>
                  <a:srgbClr val="EEF4F8"/>
                </a:solidFill>
                <a:latin typeface="Calibri"/>
              </a:rPr>
              <a:t>PrognoSense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EF4F8"/>
                </a:solidFill>
                <a:latin typeface="Calibri"/>
              </a:rPr>
              <a:t>dit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 </a:t>
            </a:r>
            <a:r>
              <a:rPr sz="1700" b="1" i="0" dirty="0">
                <a:solidFill>
                  <a:srgbClr val="00C9E0"/>
                </a:solidFill>
                <a:latin typeface="Calibri"/>
              </a:rPr>
              <a:t>quoi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EF4F8"/>
                </a:solidFill>
                <a:latin typeface="Calibri"/>
              </a:rPr>
              <a:t>tombe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EF4F8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EF4F8"/>
                </a:solidFill>
                <a:latin typeface="Calibri"/>
              </a:rPr>
              <a:t>panne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00C9E0"/>
                </a:solidFill>
                <a:latin typeface="Calibri"/>
              </a:rPr>
              <a:t>pourquoi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00C9E0"/>
                </a:solidFill>
                <a:latin typeface="Calibri"/>
              </a:rPr>
              <a:t>quelle</a:t>
            </a:r>
            <a:r>
              <a:rPr sz="1700" b="1" i="0" dirty="0">
                <a:solidFill>
                  <a:srgbClr val="00C9E0"/>
                </a:solidFill>
                <a:latin typeface="Calibri"/>
              </a:rPr>
              <a:t> pièce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, et </a:t>
            </a:r>
            <a:r>
              <a:rPr sz="1700" b="1" i="0" dirty="0">
                <a:solidFill>
                  <a:srgbClr val="00C9E0"/>
                </a:solidFill>
                <a:latin typeface="Calibri"/>
              </a:rPr>
              <a:t>qui </a:t>
            </a:r>
            <a:r>
              <a:rPr sz="1700" b="1" i="0" dirty="0" err="1">
                <a:solidFill>
                  <a:srgbClr val="00C9E0"/>
                </a:solidFill>
                <a:latin typeface="Calibri"/>
              </a:rPr>
              <a:t>doit</a:t>
            </a:r>
            <a:r>
              <a:rPr sz="1700" b="1" i="0" dirty="0">
                <a:solidFill>
                  <a:srgbClr val="00C9E0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0C9E0"/>
                </a:solidFill>
                <a:latin typeface="Calibri"/>
              </a:rPr>
              <a:t>intervenir</a:t>
            </a:r>
            <a:r>
              <a:rPr sz="1700" b="0" i="0" dirty="0">
                <a:solidFill>
                  <a:srgbClr val="EEF4F8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1" i="0" dirty="0">
                <a:solidFill>
                  <a:srgbClr val="F0AA32"/>
                </a:solidFill>
                <a:latin typeface="Calibri"/>
              </a:rPr>
              <a:t>Merci de </a:t>
            </a:r>
            <a:r>
              <a:rPr sz="1300" b="1" i="0" dirty="0" err="1">
                <a:solidFill>
                  <a:srgbClr val="F0AA32"/>
                </a:solidFill>
                <a:latin typeface="Calibri"/>
              </a:rPr>
              <a:t>votre</a:t>
            </a:r>
            <a:r>
              <a:rPr sz="1300" b="1" i="0" dirty="0">
                <a:solidFill>
                  <a:srgbClr val="F0AA32"/>
                </a:solidFill>
                <a:latin typeface="Calibri"/>
              </a:rPr>
              <a:t> attention — je </a:t>
            </a:r>
            <a:r>
              <a:rPr sz="1300" b="1" i="0" dirty="0" err="1">
                <a:solidFill>
                  <a:srgbClr val="F0AA32"/>
                </a:solidFill>
                <a:latin typeface="Calibri"/>
              </a:rPr>
              <a:t>suis</a:t>
            </a:r>
            <a:r>
              <a:rPr sz="1300" b="1" i="0" dirty="0">
                <a:solidFill>
                  <a:srgbClr val="F0AA32"/>
                </a:solidFill>
                <a:latin typeface="Calibri"/>
              </a:rPr>
              <a:t> à </a:t>
            </a:r>
            <a:r>
              <a:rPr sz="1300" b="1" i="0" dirty="0" err="1">
                <a:solidFill>
                  <a:srgbClr val="F0AA32"/>
                </a:solidFill>
                <a:latin typeface="Calibri"/>
              </a:rPr>
              <a:t>votre</a:t>
            </a:r>
            <a:r>
              <a:rPr sz="1300" b="1" i="0" dirty="0">
                <a:solidFill>
                  <a:srgbClr val="F0AA32"/>
                </a:solidFill>
                <a:latin typeface="Calibri"/>
              </a:rPr>
              <a:t> disposition pour </a:t>
            </a:r>
            <a:r>
              <a:rPr sz="1300" b="1" i="0" dirty="0" err="1">
                <a:solidFill>
                  <a:srgbClr val="F0AA32"/>
                </a:solidFill>
                <a:latin typeface="Calibri"/>
              </a:rPr>
              <a:t>vos</a:t>
            </a:r>
            <a:r>
              <a:rPr sz="1300" b="1" i="0" dirty="0">
                <a:solidFill>
                  <a:srgbClr val="F0AA32"/>
                </a:solidFill>
                <a:latin typeface="Calibri"/>
              </a:rPr>
              <a:t>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91695" cy="10972"/>
          </a:xfrm>
          <a:prstGeom prst="rect">
            <a:avLst/>
          </a:prstGeom>
          <a:solidFill>
            <a:srgbClr val="2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A2B2"/>
                </a:solidFill>
                <a:latin typeface="Calibri"/>
              </a:rPr>
              <a:t>PrognoSense  ·  Maintenance Prédictive Industrielle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19088"/>
            <a:ext cx="146304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C9E0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1302</Words>
  <Application>Microsoft Office PowerPoint</Application>
  <PresentationFormat>Grand écran</PresentationFormat>
  <Paragraphs>185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 Emoji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HP PRO</cp:lastModifiedBy>
  <cp:revision>4</cp:revision>
  <dcterms:created xsi:type="dcterms:W3CDTF">2013-01-27T09:14:16Z</dcterms:created>
  <dcterms:modified xsi:type="dcterms:W3CDTF">2026-06-13T14:30:20Z</dcterms:modified>
  <cp:category/>
</cp:coreProperties>
</file>